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120000" cy="2138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21384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4000" y="504000"/>
            <a:ext cx="14112000" cy="3384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1430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qr_re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8000" y="828000"/>
            <a:ext cx="1440000" cy="144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88000" y="2340000"/>
            <a:ext cx="144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code, data &amp; harness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828000"/>
            <a:ext cx="11592000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5000" b="1" i="0">
                <a:solidFill>
                  <a:srgbClr val="0B0B0B"/>
                </a:solidFill>
                <a:latin typeface="Calibri"/>
              </a:rPr>
              <a:t>Silent Corruption in Clinical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000" y="1548000"/>
            <a:ext cx="11592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100" b="1" i="0">
                <a:solidFill>
                  <a:srgbClr val="B3251F"/>
                </a:solidFill>
                <a:latin typeface="Calibri"/>
              </a:rPr>
              <a:t>At 150 dpi, 98.3% of characters are read correctly — and 15% of laboratory values are wrong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000" y="2556000"/>
            <a:ext cx="11592000" cy="9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50"/>
              </a:spcAft>
            </a:pPr>
            <a:r>
              <a:rPr sz="1900" b="1" i="0">
                <a:solidFill>
                  <a:srgbClr val="0B0B0B"/>
                </a:solidFill>
                <a:latin typeface="Calibri"/>
              </a:rPr>
              <a:t>Mohammed Jabir Hussain Shaik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450" b="0" i="0">
                <a:solidFill>
                  <a:srgbClr val="52514E"/>
                </a:solidFill>
                <a:latin typeface="Calibri"/>
              </a:rPr>
              <a:t>MSc Artificial Intelligence, School of Electronics, Electrical Engineering and Computer Science, Queen's University Belfast   ·   mshaik01@qub.ac.uk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000" y="4248000"/>
            <a:ext cx="6840000" cy="3852000"/>
          </a:xfrm>
          <a:prstGeom prst="roundRect">
            <a:avLst>
              <a:gd name="adj" fmla="val 3000"/>
            </a:avLst>
          </a:prstGeom>
          <a:solidFill>
            <a:srgbClr val="F4F6FA"/>
          </a:solidFill>
          <a:ln w="11430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6000" y="4464000"/>
            <a:ext cx="6336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600" b="1" i="0">
                <a:solidFill>
                  <a:srgbClr val="2F5597"/>
                </a:solidFill>
                <a:latin typeface="Calibri"/>
              </a:rPr>
              <a:t>Why this matters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6000" y="4878000"/>
            <a:ext cx="6336000" cy="252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6000" y="5022000"/>
            <a:ext cx="6336000" cy="29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40"/>
              </a:spcAft>
            </a:pPr>
            <a:r>
              <a:rPr sz="1600" b="0" i="0">
                <a:solidFill>
                  <a:srgbClr val="0B0B0B"/>
                </a:solidFill>
                <a:latin typeface="Calibri"/>
              </a:rPr>
              <a:t>•  Clinical AI increasingly ingests patient records as </a:t>
            </a:r>
            <a:r>
              <a:rPr sz="1600" b="1" i="0">
                <a:solidFill>
                  <a:srgbClr val="0B0B0B"/>
                </a:solidFill>
                <a:latin typeface="Calibri"/>
              </a:rPr>
              <a:t>images</a:t>
            </a:r>
            <a:r>
              <a:rPr sz="1600" b="0" i="0">
                <a:solidFill>
                  <a:srgbClr val="0B0B0B"/>
                </a:solidFill>
                <a:latin typeface="Calibri"/>
              </a:rPr>
              <a:t> — scans, faxes, phone photographs — not structured data.</a:t>
            </a:r>
          </a:p>
          <a:p>
            <a:pPr>
              <a:lnSpc>
                <a:spcPct val="108000"/>
              </a:lnSpc>
              <a:spcAft>
                <a:spcPts val="440"/>
              </a:spcAft>
            </a:pPr>
            <a:r>
              <a:rPr sz="1600" b="0" i="0">
                <a:solidFill>
                  <a:srgbClr val="0B0B0B"/>
                </a:solidFill>
                <a:latin typeface="Calibri"/>
              </a:rPr>
              <a:t>•  Every stage from pixel to generated sentence is lossy: OCR, extraction, abnormal-value flagging, prompt assembly.</a:t>
            </a:r>
          </a:p>
          <a:p>
            <a:pPr>
              <a:lnSpc>
                <a:spcPct val="108000"/>
              </a:lnSpc>
              <a:spcAft>
                <a:spcPts val="440"/>
              </a:spcAft>
            </a:pPr>
            <a:r>
              <a:rPr sz="1600" b="0" i="0">
                <a:solidFill>
                  <a:srgbClr val="0B0B0B"/>
                </a:solidFill>
                <a:latin typeface="Calibri"/>
              </a:rPr>
              <a:t>•  RAG systems are evaluated on retrieval and answer quality — almost never on whether the patient's own numbers survived.</a:t>
            </a:r>
          </a:p>
          <a:p>
            <a:pPr>
              <a:lnSpc>
                <a:spcPct val="108000"/>
              </a:lnSpc>
              <a:spcAft>
                <a:spcPts val="440"/>
              </a:spcAft>
            </a:pPr>
            <a:r>
              <a:rPr sz="1600" b="0" i="0">
                <a:solidFill>
                  <a:srgbClr val="0B0B0B"/>
                </a:solidFill>
                <a:latin typeface="Calibri"/>
              </a:rPr>
              <a:t>•  A wrong but still </a:t>
            </a:r>
            <a:r>
              <a:rPr sz="1600" b="0" i="1">
                <a:solidFill>
                  <a:srgbClr val="0B0B0B"/>
                </a:solidFill>
                <a:latin typeface="Calibri"/>
              </a:rPr>
              <a:t>plausible</a:t>
            </a:r>
            <a:r>
              <a:rPr sz="1600" b="0" i="0">
                <a:solidFill>
                  <a:srgbClr val="0B0B0B"/>
                </a:solidFill>
                <a:latin typeface="Calibri"/>
              </a:rPr>
              <a:t> value crosses the same threshold as the truth, so the alarm the clinician sees is identical.</a:t>
            </a:r>
          </a:p>
          <a:p>
            <a:pPr>
              <a:lnSpc>
                <a:spcPct val="108000"/>
              </a:lnSpc>
              <a:spcAft>
                <a:spcPts val="440"/>
              </a:spcAft>
            </a:pPr>
            <a:r>
              <a:rPr sz="1600" b="0" i="0">
                <a:solidFill>
                  <a:srgbClr val="0B0B0B"/>
                </a:solidFill>
                <a:latin typeface="Calibri"/>
              </a:rPr>
              <a:t>•  If nothing can say “this reading is suspect”, a decimal point lost in a scan becomes a clinical recommendation.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4000" y="8424000"/>
            <a:ext cx="6840000" cy="3852000"/>
          </a:xfrm>
          <a:prstGeom prst="roundRect">
            <a:avLst>
              <a:gd name="adj" fmla="val 3000"/>
            </a:avLst>
          </a:prstGeom>
          <a:solidFill>
            <a:srgbClr val="F4F6FA"/>
          </a:solidFill>
          <a:ln w="11430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000" y="8640000"/>
            <a:ext cx="6336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600" b="1" i="0">
                <a:solidFill>
                  <a:srgbClr val="2F5597"/>
                </a:solidFill>
                <a:latin typeface="Calibri"/>
              </a:rPr>
              <a:t>What I did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6000" y="9054000"/>
            <a:ext cx="6336000" cy="252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6000" y="9198000"/>
            <a:ext cx="6336000" cy="29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40"/>
              </a:spcAft>
            </a:pPr>
            <a:r>
              <a:rPr sz="1600" b="0" i="0">
                <a:solidFill>
                  <a:srgbClr val="0B0B0B"/>
                </a:solidFill>
                <a:latin typeface="Calibri"/>
              </a:rPr>
              <a:t>•  Built a RAG clinical decision support prototype: React, FastAPI, Qdrant, Tesseract OCR, LLM generation. Code is public.</a:t>
            </a:r>
          </a:p>
          <a:p>
            <a:pPr>
              <a:lnSpc>
                <a:spcPct val="108000"/>
              </a:lnSpc>
              <a:spcAft>
                <a:spcPts val="440"/>
              </a:spcAft>
            </a:pPr>
            <a:r>
              <a:rPr sz="1600" b="0" i="0">
                <a:solidFill>
                  <a:srgbClr val="0B0B0B"/>
                </a:solidFill>
                <a:latin typeface="Calibri"/>
              </a:rPr>
              <a:t>•  Injected </a:t>
            </a:r>
            <a:r>
              <a:rPr sz="1600" b="1" i="0">
                <a:solidFill>
                  <a:srgbClr val="0B0B0B"/>
                </a:solidFill>
                <a:latin typeface="Calibri"/>
              </a:rPr>
              <a:t>controlled image faults</a:t>
            </a:r>
            <a:r>
              <a:rPr sz="1600" b="0" i="0">
                <a:solidFill>
                  <a:srgbClr val="0B0B0B"/>
                </a:solidFill>
                <a:latin typeface="Calibri"/>
              </a:rPr>
              <a:t> into a synthetic discharge summary with machine-readable ground truth for 13 analytes.</a:t>
            </a:r>
          </a:p>
          <a:p>
            <a:pPr>
              <a:lnSpc>
                <a:spcPct val="108000"/>
              </a:lnSpc>
              <a:spcAft>
                <a:spcPts val="440"/>
              </a:spcAft>
            </a:pPr>
            <a:r>
              <a:rPr sz="1600" b="0" i="0">
                <a:solidFill>
                  <a:srgbClr val="0B0B0B"/>
                </a:solidFill>
                <a:latin typeface="Calibri"/>
              </a:rPr>
              <a:t>•  32 conditions — resolution, blur, JPEG, rotation, noise, composites — 5 seeds where stochastic. </a:t>
            </a:r>
            <a:r>
              <a:rPr sz="1600" b="1" i="0">
                <a:solidFill>
                  <a:srgbClr val="0B0B0B"/>
                </a:solidFill>
                <a:latin typeface="Calibri"/>
              </a:rPr>
              <a:t>832 observations.</a:t>
            </a:r>
          </a:p>
          <a:p>
            <a:pPr>
              <a:lnSpc>
                <a:spcPct val="108000"/>
              </a:lnSpc>
              <a:spcAft>
                <a:spcPts val="440"/>
              </a:spcAft>
            </a:pPr>
            <a:r>
              <a:rPr sz="1600" b="0" i="0">
                <a:solidFill>
                  <a:srgbClr val="0B0B0B"/>
                </a:solidFill>
                <a:latin typeface="Calibri"/>
              </a:rPr>
              <a:t>•  Added a </a:t>
            </a:r>
            <a:r>
              <a:rPr sz="1600" b="1" i="0">
                <a:solidFill>
                  <a:srgbClr val="0B0B0B"/>
                </a:solidFill>
                <a:latin typeface="Calibri"/>
              </a:rPr>
              <a:t>calibration gate</a:t>
            </a:r>
            <a:r>
              <a:rPr sz="1600" b="0" i="0">
                <a:solidFill>
                  <a:srgbClr val="0B0B0B"/>
                </a:solidFill>
                <a:latin typeface="Calibri"/>
              </a:rPr>
              <a:t>: no result unless the clean render gives 13/13. My first run failed it — my own parser's bug.</a:t>
            </a:r>
          </a:p>
          <a:p>
            <a:pPr>
              <a:lnSpc>
                <a:spcPct val="108000"/>
              </a:lnSpc>
              <a:spcAft>
                <a:spcPts val="440"/>
              </a:spcAft>
            </a:pPr>
            <a:r>
              <a:rPr sz="1600" b="0" i="0">
                <a:solidFill>
                  <a:srgbClr val="0B0B0B"/>
                </a:solidFill>
                <a:latin typeface="Calibri"/>
              </a:rPr>
              <a:t>•  Measured at three levels: characters, extracted values against truth, and the flag the clinician would be shown.</a:t>
            </a:r>
          </a:p>
        </p:txBody>
      </p:sp>
      <p:pic>
        <p:nvPicPr>
          <p:cNvPr id="17" name="Picture 16" descr="fig2_res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00" y="12636000"/>
            <a:ext cx="6840000" cy="402882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04000" y="16736821"/>
            <a:ext cx="684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52514E"/>
                </a:solidFill>
                <a:latin typeface="Calibri"/>
              </a:rPr>
              <a:t>Figure 2.</a:t>
            </a:r>
            <a:r>
              <a:rPr sz="1250" b="0" i="0">
                <a:solidFill>
                  <a:srgbClr val="52514E"/>
                </a:solidFill>
                <a:latin typeface="Calibri"/>
              </a:rPr>
              <a:t>  Error at two levels against scan resolution; both are fractions on one axis. 13 analytes per point. Blur, JPEG, rotation and noise at 300 dpi were each harmless until a cliff (see repository).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4000" y="17384821"/>
            <a:ext cx="6840000" cy="169517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1430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6000" y="17600821"/>
            <a:ext cx="6336000" cy="1263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40"/>
              </a:spcAft>
            </a:pPr>
            <a:r>
              <a:rPr sz="1700" b="1" i="0">
                <a:solidFill>
                  <a:srgbClr val="0B0B0B"/>
                </a:solidFill>
                <a:latin typeface="Calibri"/>
              </a:rPr>
              <a:t>What this does not show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040" b="0" i="0">
                <a:solidFill>
                  <a:srgbClr val="52514E"/>
                </a:solidFill>
                <a:latin typeface="Calibri"/>
              </a:rPr>
              <a:t>One synthetic document, 13 analytes, one layout, one OCR engine (Tesseract 5.5.1). Degradations are synthetic approximations, not real scans. Extraction used a deterministic row parser; the deployed LLM extractor is untested. Flags follow the system's own hardcoded ranges, which are not age- or sex-aware. Plausibility envelopes are my own construction, not a clinical standard. Generation used one 3B local model, six samples per condition. No clinician has judged whether any corruption would change management. This is a preliminary fault-injection study on a research prototype — not a validated or deployable system.</a:t>
            </a:r>
          </a:p>
        </p:txBody>
      </p:sp>
      <p:pic>
        <p:nvPicPr>
          <p:cNvPr id="21" name="Picture 20" descr="fig1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6000" y="4248000"/>
            <a:ext cx="6480000" cy="615254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776000" y="10472545"/>
            <a:ext cx="684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52514E"/>
                </a:solidFill>
                <a:latin typeface="Calibri"/>
              </a:rPr>
              <a:t>Figure 1.</a:t>
            </a:r>
            <a:r>
              <a:rPr sz="1250" b="0" i="0">
                <a:solidFill>
                  <a:srgbClr val="52514E"/>
                </a:solidFill>
                <a:latin typeface="Calibri"/>
              </a:rPr>
              <a:t>  The measured pipeline. Vision at the top, language at the bottom, five lossy stages between — and no check that a value is physiologically possible.</a:t>
            </a:r>
          </a:p>
        </p:txBody>
      </p:sp>
      <p:pic>
        <p:nvPicPr>
          <p:cNvPr id="23" name="Picture 22" descr="fig3_taxonom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6000" y="11084545"/>
            <a:ext cx="6840000" cy="262419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776000" y="13780737"/>
            <a:ext cx="684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52514E"/>
                </a:solidFill>
                <a:latin typeface="Calibri"/>
              </a:rPr>
              <a:t>Figure 3.</a:t>
            </a:r>
            <a:r>
              <a:rPr sz="1250" b="0" i="0">
                <a:solidFill>
                  <a:srgbClr val="52514E"/>
                </a:solidFill>
                <a:latin typeface="Calibri"/>
              </a:rPr>
              <a:t>  What the flagging layer did with each of the 43 corrupted values.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6000" y="14428737"/>
            <a:ext cx="6840000" cy="4651262"/>
          </a:xfrm>
          <a:prstGeom prst="roundRect">
            <a:avLst>
              <a:gd name="adj" fmla="val 3000"/>
            </a:avLst>
          </a:prstGeom>
          <a:solidFill>
            <a:srgbClr val="F4F6FA"/>
          </a:solidFill>
          <a:ln w="11430">
            <a:solidFill>
              <a:srgbClr val="C9D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28000" y="14644737"/>
            <a:ext cx="6336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600" b="1" i="0">
                <a:solidFill>
                  <a:srgbClr val="2F5597"/>
                </a:solidFill>
                <a:latin typeface="Calibri"/>
              </a:rPr>
              <a:t>What I found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28000" y="15058737"/>
            <a:ext cx="6336000" cy="252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28000" y="15202737"/>
            <a:ext cx="6336000" cy="37872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20"/>
              </a:spcAft>
            </a:pPr>
            <a:r>
              <a:rPr sz="1600" b="1" i="0">
                <a:solidFill>
                  <a:srgbClr val="B3251F"/>
                </a:solidFill>
                <a:latin typeface="Calibri"/>
              </a:rPr>
              <a:t>1.  Text quality does not predict value safety.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480" b="0" i="0">
                <a:solidFill>
                  <a:srgbClr val="0B0B0B"/>
                </a:solidFill>
                <a:latin typeface="Calibri"/>
              </a:rPr>
              <a:t>At 150 dpi — a routine scanner setting — 98.3% of characters are correct and 15% of values are wrong. Resolution dominates: at 300 dpi, blur to σ 2.0, JPEG to q15, rotation to 5° and noise to σ 20 were each harmless.</a:t>
            </a:r>
          </a:p>
          <a:p>
            <a:pPr>
              <a:lnSpc>
                <a:spcPct val="112000"/>
              </a:lnSpc>
              <a:spcAft>
                <a:spcPts val="120"/>
              </a:spcAft>
            </a:pPr>
            <a:r>
              <a:rPr sz="1600" b="1" i="0">
                <a:solidFill>
                  <a:srgbClr val="B3251F"/>
                </a:solidFill>
                <a:latin typeface="Calibri"/>
              </a:rPr>
              <a:t>2.  65% of corruptions are invisible.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480" b="0" i="0">
                <a:solidFill>
                  <a:srgbClr val="0B0B0B"/>
                </a:solidFill>
                <a:latin typeface="Calibri"/>
              </a:rPr>
              <a:t>Of 43 wrong values, 28 produced the </a:t>
            </a:r>
            <a:r>
              <a:rPr sz="1480" b="1" i="0">
                <a:solidFill>
                  <a:srgbClr val="0B0B0B"/>
                </a:solidFill>
                <a:latin typeface="Calibri"/>
              </a:rPr>
              <a:t>same</a:t>
            </a:r>
            <a:r>
              <a:rPr sz="1480" b="0" i="0">
                <a:solidFill>
                  <a:srgbClr val="0B0B0B"/>
                </a:solidFill>
                <a:latin typeface="Calibri"/>
              </a:rPr>
              <a:t> abnormal-value flag as the truth. Potassium 5.8 → 58.0 mEq/L is still “High”; troponin 0.07 → 7.0 is still “Critical”. 60% were pure decimal-place shifts.</a:t>
            </a:r>
          </a:p>
          <a:p>
            <a:pPr>
              <a:lnSpc>
                <a:spcPct val="112000"/>
              </a:lnSpc>
              <a:spcAft>
                <a:spcPts val="120"/>
              </a:spcAft>
            </a:pPr>
            <a:r>
              <a:rPr sz="1600" b="1" i="0">
                <a:solidFill>
                  <a:srgbClr val="B3251F"/>
                </a:solidFill>
                <a:latin typeface="Calibri"/>
              </a:rPr>
              <a:t>3.  It reaches the generated output.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480" b="0" i="0">
                <a:solidFill>
                  <a:srgbClr val="0B0B0B"/>
                </a:solidFill>
                <a:latin typeface="Calibri"/>
              </a:rPr>
              <a:t>The corrupted value is quoted verbatim in the generated recommendation in 5 of 6 generations at 100 dpi and 4 of 6 at 150 dpi — the prompt instructs the model to quote values exactly. Whether the </a:t>
            </a:r>
            <a:r>
              <a:rPr sz="1480" b="0" i="1">
                <a:solidFill>
                  <a:srgbClr val="0B0B0B"/>
                </a:solidFill>
                <a:latin typeface="Calibri"/>
              </a:rPr>
              <a:t>recommendation</a:t>
            </a:r>
            <a:r>
              <a:rPr sz="1480" b="0" i="0">
                <a:solidFill>
                  <a:srgbClr val="0B0B0B"/>
                </a:solidFill>
                <a:latin typeface="Calibri"/>
              </a:rPr>
              <a:t> itself changes was </a:t>
            </a:r>
            <a:r>
              <a:rPr sz="1480" b="1" i="0">
                <a:solidFill>
                  <a:srgbClr val="0B0B0B"/>
                </a:solidFill>
                <a:latin typeface="Calibri"/>
              </a:rPr>
              <a:t>not stable</a:t>
            </a:r>
            <a:r>
              <a:rPr sz="1480" b="0" i="0">
                <a:solidFill>
                  <a:srgbClr val="0B0B0B"/>
                </a:solidFill>
                <a:latin typeface="Calibri"/>
              </a:rPr>
              <a:t> across generations; that needs a larger, properly powered comparison.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4000" y="19368000"/>
            <a:ext cx="14112000" cy="612000"/>
          </a:xfrm>
          <a:prstGeom prst="roundRect">
            <a:avLst>
              <a:gd name="adj" fmla="val 8000"/>
            </a:avLst>
          </a:prstGeom>
          <a:solidFill>
            <a:srgbClr val="FFF2F1"/>
          </a:solidFill>
          <a:ln w="11430">
            <a:solidFill>
              <a:srgbClr val="B32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2000" y="19494000"/>
            <a:ext cx="13536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850" b="1" i="1">
                <a:solidFill>
                  <a:srgbClr val="B3251F"/>
                </a:solidFill>
                <a:latin typeface="Calibri"/>
              </a:rPr>
              <a:t>Grounding tells you where a number came from. It does not tell you whether it was read correctly.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000" y="20160000"/>
            <a:ext cx="684000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20"/>
              </a:spcAft>
            </a:pPr>
            <a:r>
              <a:rPr sz="1100" b="1" i="0">
                <a:solidFill>
                  <a:srgbClr val="0B0B0B"/>
                </a:solidFill>
                <a:latin typeface="Calibri"/>
              </a:rPr>
              <a:t>References</a:t>
            </a:r>
          </a:p>
          <a:p>
            <a:pPr>
              <a:lnSpc>
                <a:spcPct val="108000"/>
              </a:lnSpc>
              <a:spcAft>
                <a:spcPts val="120"/>
              </a:spcAft>
            </a:pPr>
            <a:r>
              <a:rPr sz="940" b="0" i="0">
                <a:solidFill>
                  <a:srgbClr val="52514E"/>
                </a:solidFill>
                <a:latin typeface="Calibri"/>
              </a:rPr>
              <a:t>Gao, Y. et al. Retrieval-Augmented Generation for Large Language Models: A Survey. arXiv:2312.10997, 2023.</a:t>
            </a:r>
          </a:p>
          <a:p>
            <a:pPr>
              <a:lnSpc>
                <a:spcPct val="108000"/>
              </a:lnSpc>
              <a:spcAft>
                <a:spcPts val="120"/>
              </a:spcAft>
            </a:pPr>
            <a:r>
              <a:rPr sz="940" b="0" i="0">
                <a:solidFill>
                  <a:srgbClr val="52514E"/>
                </a:solidFill>
                <a:latin typeface="Calibri"/>
              </a:rPr>
              <a:t>Amugongo, L. M. et al. Retrieval augmented generation for large language models in healthcare: a systematic review. PLOS Digital Health 4(6): e0000877, 2025.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6000" y="20325600"/>
            <a:ext cx="684000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20"/>
              </a:spcAft>
            </a:pPr>
            <a:r>
              <a:rPr sz="940" b="0" i="0">
                <a:solidFill>
                  <a:srgbClr val="52514E"/>
                </a:solidFill>
                <a:latin typeface="Calibri"/>
              </a:rPr>
              <a:t>Lu, Y., Zhao, X., Wang, J. ClinicalRAG: Enhancing Clinical Decision Support through Heterogeneous Knowledge Retrieval. Workshop on Knowledgeable Language Models, ACL 2024.</a:t>
            </a:r>
          </a:p>
          <a:p>
            <a:pPr>
              <a:lnSpc>
                <a:spcPct val="108000"/>
              </a:lnSpc>
              <a:spcAft>
                <a:spcPts val="120"/>
              </a:spcAft>
            </a:pPr>
            <a:r>
              <a:rPr sz="940" b="0" i="0">
                <a:solidFill>
                  <a:srgbClr val="52514E"/>
                </a:solidFill>
                <a:latin typeface="Calibri"/>
              </a:rPr>
              <a:t>Ben Abacha, A., Demner-Fushman, D. A question-entailment approach to question answering. BMC Bioinformatics 20:511, 2019.  (MedQuAD)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000" y="20916000"/>
            <a:ext cx="14112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Synthetic patient data throughout — no real patient information was used.   ·   Vision and Language Symposium, Queen's University Belfast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